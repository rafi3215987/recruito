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3" r:id="rId15"/>
    <p:sldId id="261" r:id="rId13"/>
    <p:sldId id="262" r:id="rId14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RecruitO: an AI-assisted recruitment platform, built as a Dockerized web app with FastAPI, PostgreSQL and LangGraph/Gemini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pitch: automate the busywork of hiring while keeping a human in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pain: volume, inconsistency, scheduling overhead, and no interview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concrete objectives; the outcome is faster, fairer, auditable 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headline features; emphasise bulk import, graded scoring, and the live interview with transcription.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six layers top to bottom: users -&gt; frontend (nginx) -&gt; FastAPI backend + worker -&gt; workflows &amp; domain services -&gt; data/file storage -&gt; external services, all run by Docker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the stack: frontend, backend, database, AI, infrastructure,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steps: create job, import CVs, score &amp; rank, notify manager, interview, analyse &amp;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live site here. Point out the three value props and the sign-in / sign-up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manager view: jobs, the scheduling banner, and the weighted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Scroll the ranked list; highlight the graded scores and the evidence quotes behind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interviewer sees candidate info + live transcript; the candidate sees only the video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Narrate two or three in depth. Current status: all core modules implemented and integrated.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and offer a live walkthrough. Be ready to discuss status, challenges and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03720" y="155448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2E2468"/>
          </a:solidFill>
          <a:ln w="12700">
            <a:solidFill>
              <a:srgbClr val="4A3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p-Claude_Browser-blob-1793196945465-vu2j4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1765935"/>
            <a:ext cx="4443984" cy="2777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37160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9A8FF"/>
                </a:solidFill>
                <a:latin typeface="Calibri"/>
              </a:rPr>
              <a:t>FINAL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Calibri"/>
              </a:rPr>
              <a:t>RecruitO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1FF"/>
                </a:solidFill>
                <a:latin typeface="Calibri"/>
              </a:rPr>
              <a:t>An AI-Assisted Recruitment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39312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A99FCF"/>
                </a:solidFill>
                <a:latin typeface="Calibri"/>
              </a:rPr>
              <a:t>Evidence-backed hiring — from CV screening to live, analysed interviews.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937760"/>
            <a:ext cx="2743200" cy="64008"/>
          </a:xfrm>
          <a:prstGeom prst="roundRect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99FCF"/>
                </a:solidFill>
                <a:latin typeface="Calibri"/>
              </a:rPr>
              <a:t>Presented by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Mahbubur Rahman Rafi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What RecruitO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453C68"/>
                </a:solidFill>
                <a:latin typeface="Calibri"/>
              </a:rPr>
              <a:t>RecruitO is a web-based recruitment platform that uses AI to automate the slow, repetitive parts of hiring. Managers post jobs, bulk-import CVs, and let the system screen, score and rank candidates — then run structured video interviews with live transcription and automated analysis, keeping humans in control of every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36192"/>
            <a:ext cx="4434840" cy="137160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52360" y="1783080"/>
            <a:ext cx="201168" cy="201168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82495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29967"/>
            <a:ext cx="37033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Cut manual CV screening and scheduling effort while keeping hiring fair and auditable.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108960"/>
            <a:ext cx="4434840" cy="137160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52360" y="3355848"/>
            <a:ext cx="201168" cy="201168"/>
          </a:xfrm>
          <a:prstGeom prst="ellipse">
            <a:avLst/>
          </a:prstGeom>
          <a:solidFill>
            <a:srgbClr val="3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255264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602736"/>
            <a:ext cx="37033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Teams receive hundreds of CVs; manual review is slow, inconsistent and hard to track.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4681728"/>
            <a:ext cx="4434840" cy="137160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52360" y="4928616"/>
            <a:ext cx="201168" cy="20116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82803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175504"/>
            <a:ext cx="37033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AI pipelines (LangGraph + Gemini) assist, but the hiring manager makes the final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Why hiring needs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53C68"/>
                </a:solidFill>
                <a:latin typeface="Calibri"/>
              </a:rPr>
              <a:t>Traditional hiring is slow, inconsistent and hard to scale — especially the first screening 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670048" cy="31089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430"/>
                </a:solidFill>
                <a:latin typeface="Calibri"/>
              </a:rPr>
              <a:t>High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22128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792"/>
                </a:solidFill>
                <a:latin typeface="Calibri"/>
              </a:rPr>
              <a:t>Hundreds of CVs per role take hours to read by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2148840"/>
            <a:ext cx="2670048" cy="31089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4176" y="2514600"/>
            <a:ext cx="457200" cy="457200"/>
          </a:xfrm>
          <a:prstGeom prst="ellipse">
            <a:avLst/>
          </a:prstGeom>
          <a:solidFill>
            <a:srgbClr val="C1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315468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430"/>
                </a:solidFill>
                <a:latin typeface="Calibri"/>
              </a:rPr>
              <a:t>Inconsistency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3630168"/>
            <a:ext cx="22128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792"/>
                </a:solidFill>
                <a:latin typeface="Calibri"/>
              </a:rPr>
              <a:t>Different reviewers score the same CV differently.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148840"/>
            <a:ext cx="2670048" cy="31089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19671" y="2514600"/>
            <a:ext cx="457200" cy="457200"/>
          </a:xfrm>
          <a:prstGeom prst="ellipse">
            <a:avLst/>
          </a:prstGeom>
          <a:solidFill>
            <a:srgbClr val="3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15468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430"/>
                </a:solidFill>
                <a:latin typeface="Calibri"/>
              </a:rPr>
              <a:t>Slow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630168"/>
            <a:ext cx="22128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792"/>
                </a:solidFill>
                <a:latin typeface="Calibri"/>
              </a:rPr>
              <a:t>Coordinating interview times and interviewers is manual.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2148840"/>
            <a:ext cx="2670048" cy="31089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45167" y="2514600"/>
            <a:ext cx="457200" cy="457200"/>
          </a:xfrm>
          <a:prstGeom prst="ellipse">
            <a:avLst/>
          </a:prstGeom>
          <a:solidFill>
            <a:srgbClr val="1F8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315468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430"/>
                </a:solidFill>
                <a:latin typeface="Calibri"/>
              </a:rPr>
              <a:t>Lost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630168"/>
            <a:ext cx="22128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792"/>
                </a:solidFill>
                <a:latin typeface="Calibri"/>
              </a:rPr>
              <a:t>Interviews aren't captured or analysed in a consistent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Goals and expected outcomes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09344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453C68"/>
                </a:solidFill>
                <a:latin typeface="Calibri"/>
              </a:rPr>
              <a:t>Automate CV screening and ranking against each job's requirements.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96312"/>
            <a:ext cx="457200" cy="457200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78024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453C68"/>
                </a:solidFill>
                <a:latin typeface="Calibri"/>
              </a:rPr>
              <a:t>Keep scoring fair, explainable and evidence-backed (every point cites the CV).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64991"/>
            <a:ext cx="457200" cy="457200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346703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453C68"/>
                </a:solidFill>
                <a:latin typeface="Calibri"/>
              </a:rPr>
              <a:t>Streamline interview scheduling with the hiring manager in control.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336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15384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453C68"/>
                </a:solidFill>
                <a:latin typeface="Calibri"/>
              </a:rPr>
              <a:t>Enable cross-network video interviews with real-time transcription.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02352"/>
            <a:ext cx="457200" cy="457200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02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084064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453C68"/>
                </a:solidFill>
                <a:latin typeface="Calibri"/>
              </a:rPr>
              <a:t>Analyse completed interviews to support the final hiring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627632"/>
            <a:ext cx="2788920" cy="3657600"/>
          </a:xfrm>
          <a:prstGeom prst="roundRect">
            <a:avLst>
              <a:gd name="adj" fmla="val 9000"/>
            </a:avLst>
          </a:prstGeom>
          <a:solidFill>
            <a:srgbClr val="24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8470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Expected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304288"/>
            <a:ext cx="23774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D9D2FF"/>
                </a:solidFill>
                <a:latin typeface="Calibri"/>
              </a:rPr>
              <a:t>Faster, fairer shortlists and a repeatable, auditable hiring pipeline — with AI doing the reading and people making the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KEY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What the system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828800"/>
            <a:ext cx="310896" cy="310896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9222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430"/>
                </a:solidFill>
                <a:latin typeface="Calibri"/>
              </a:rPr>
              <a:t>AI Job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9572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Generates the JD and weighted (1-5) requirements from a short brief.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9432" y="1828800"/>
            <a:ext cx="310896" cy="310896"/>
          </a:xfrm>
          <a:prstGeom prst="ellipse">
            <a:avLst/>
          </a:prstGeom>
          <a:solidFill>
            <a:srgbClr val="3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79222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430"/>
                </a:solidFill>
                <a:latin typeface="Calibri"/>
              </a:rPr>
              <a:t>Bulk CV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9572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Any number of CVs, processed 10 at a time; auto-creates candidate profiles.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94192" y="1828800"/>
            <a:ext cx="310896" cy="31089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79222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430"/>
                </a:solidFill>
                <a:latin typeface="Calibri"/>
              </a:rPr>
              <a:t>AI CV Scoring &amp;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39572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Graded 0-100 per requirement, with evidence quotes and a ranked 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38728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3813048"/>
            <a:ext cx="310896" cy="310896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77647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430"/>
                </a:solidFill>
                <a:latin typeface="Calibri"/>
              </a:rPr>
              <a:t>Manager-Driven 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379976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Emails the manager when a CV scores above 65 to assign time + interviewer.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538728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99432" y="3813048"/>
            <a:ext cx="310896" cy="310896"/>
          </a:xfrm>
          <a:prstGeom prst="ellipse">
            <a:avLst/>
          </a:prstGeom>
          <a:solidFill>
            <a:srgbClr val="C1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77647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430"/>
                </a:solidFill>
                <a:latin typeface="Calibri"/>
              </a:rPr>
              <a:t>Live Video Interviews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379976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LiveKit video across networks with real-time AssemblyAI transcription.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538728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94192" y="3813048"/>
            <a:ext cx="310896" cy="310896"/>
          </a:xfrm>
          <a:prstGeom prst="ellipse">
            <a:avLst/>
          </a:prstGeom>
          <a:solidFill>
            <a:srgbClr val="1F8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377647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430"/>
                </a:solidFill>
                <a:latin typeface="Calibri"/>
              </a:rPr>
              <a:t>Analysis &amp; Chatbots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379976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Automated interview analysis plus role-aware candidate / manager assistants.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How the system fits together</a:t>
            </a:r>
          </a:p>
        </p:txBody>
      </p:sp>
      <p:pic>
        <p:nvPicPr>
          <p:cNvPr id="5" name="Picture 4" descr="5.png">
            <a:extLst>
              <a:ext uri="{FF2B5EF4-FFF2-40B4-BE49-F238E27FC236}">
                <a16:creationId xmlns:a16="http://schemas.microsoft.com/office/drawing/2014/main" id="{7AD32A6A-9522-4268-8779-0057C2429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042" y="1371600"/>
            <a:ext cx="903118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Languages, frameworks and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847088"/>
            <a:ext cx="237744" cy="237744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755648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31136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HTML, CSS, vanilla JavaScript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WebRTC + LiveKit client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Single-page interfaces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9432" y="1847088"/>
            <a:ext cx="237744" cy="237744"/>
          </a:xfrm>
          <a:prstGeom prst="ellipse">
            <a:avLst/>
          </a:prstGeom>
          <a:solidFill>
            <a:srgbClr val="3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6904" y="1755648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31136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Python + FastAPI (Uvicorn)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Pydantic validation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JWT auth, argon2 hashing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94192" y="1847088"/>
            <a:ext cx="237744" cy="237744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41664" y="1755648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31136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PostgreSQL + pgvector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SQLAlchemy ORM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Alembic migrations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38728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3831336"/>
            <a:ext cx="237744" cy="237744"/>
          </a:xfrm>
          <a:prstGeom prst="ellipse">
            <a:avLst/>
          </a:prstGeom>
          <a:solidFill>
            <a:srgbClr val="C1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373989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AI /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15384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LangGraph (StateGraph)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Google Gemini models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AssemblyAI speech-to-text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538728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99432" y="3831336"/>
            <a:ext cx="237744" cy="237744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46904" y="373989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15384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Docker Compose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nginx reverse proxy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Cloudflare Tunnel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538728"/>
            <a:ext cx="3611880" cy="178308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94192" y="3831336"/>
            <a:ext cx="237744" cy="237744"/>
          </a:xfrm>
          <a:prstGeom prst="ellipse">
            <a:avLst/>
          </a:prstGeom>
          <a:solidFill>
            <a:srgbClr val="1F8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1664" y="373989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Integrations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15384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LiveKit Cloud (video)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Gmail SMTP (email)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453C68"/>
                </a:solidFill>
                <a:latin typeface="Calibri"/>
              </a:rPr>
              <a:t>•  Blogger MCP (job posts)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WORKFLOW /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How a hire flows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17373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965960"/>
            <a:ext cx="457200" cy="457200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9659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Create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Manager describes a role; AI drafts the JD + weighted requirements.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9663" y="2487168"/>
            <a:ext cx="155448" cy="146304"/>
          </a:xfrm>
          <a:prstGeom prst="rightArrow">
            <a:avLst/>
          </a:prstGeom>
          <a:solidFill>
            <a:srgbClr val="C9C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611880" cy="17373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2" y="1965960"/>
            <a:ext cx="457200" cy="457200"/>
          </a:xfrm>
          <a:prstGeom prst="ellipse">
            <a:avLst/>
          </a:prstGeom>
          <a:solidFill>
            <a:srgbClr val="3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9659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Import CVs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603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Bulk-upload CVs; each becomes a candidate profile automatically.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64423" y="2487168"/>
            <a:ext cx="155448" cy="146304"/>
          </a:xfrm>
          <a:prstGeom prst="rightArrow">
            <a:avLst/>
          </a:prstGeom>
          <a:solidFill>
            <a:srgbClr val="C9C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691640"/>
            <a:ext cx="3611880" cy="17373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94192" y="1965960"/>
            <a:ext cx="457200" cy="457200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9659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Score &amp; 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603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AI grades every CV 0-100 against the requirements, with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03320"/>
            <a:ext cx="3611880" cy="17373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" y="3977639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776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97763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Notify (&gt;65)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5720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Strong candidates trigger an email to the manager to schedule.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169663" y="4498848"/>
            <a:ext cx="155448" cy="146304"/>
          </a:xfrm>
          <a:prstGeom prst="rightArrow">
            <a:avLst/>
          </a:prstGeom>
          <a:solidFill>
            <a:srgbClr val="C9C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43400" y="3703320"/>
            <a:ext cx="3611880" cy="17373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99432" y="3977639"/>
            <a:ext cx="457200" cy="457200"/>
          </a:xfrm>
          <a:prstGeom prst="ellipse">
            <a:avLst/>
          </a:prstGeom>
          <a:solidFill>
            <a:srgbClr val="C1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39776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97763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Interview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5720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Candidate + interviewer join a live video room with transcription.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964423" y="4498848"/>
            <a:ext cx="155448" cy="146304"/>
          </a:xfrm>
          <a:prstGeom prst="rightArrow">
            <a:avLst/>
          </a:prstGeom>
          <a:solidFill>
            <a:srgbClr val="C9C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8160" y="3703320"/>
            <a:ext cx="3611880" cy="1737360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94192" y="3977639"/>
            <a:ext cx="457200" cy="457200"/>
          </a:xfrm>
          <a:prstGeom prst="ellipse">
            <a:avLst/>
          </a:prstGeom>
          <a:solidFill>
            <a:srgbClr val="1F8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9776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97763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430"/>
                </a:solidFill>
                <a:latin typeface="Calibri"/>
              </a:rPr>
              <a:t>Analyse &amp; decide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5720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E6792"/>
                </a:solidFill>
                <a:latin typeface="Calibri"/>
              </a:rPr>
              <a:t>AI analyses the interview; the manager makes the final 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UI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Landing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7269480" cy="4983480"/>
          </a:xfrm>
          <a:prstGeom prst="roundRect">
            <a:avLst>
              <a:gd name="adj" fmla="val 9000"/>
            </a:avLst>
          </a:prstGeom>
          <a:solidFill>
            <a:srgbClr val="F3F1FA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2763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4DF0"/>
                </a:solidFill>
                <a:latin typeface="Calibri"/>
              </a:rPr>
              <a:t>On this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39696"/>
            <a:ext cx="3840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Public entry point with sign in / sign up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States the product promise: evidence-backed shortlists, structured interviews, human-led decisions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Clean, focused first impression for candidates and hiring teams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3FE6A2A3-0E21-4E9B-AB2D-1B8E591909F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04582" y="1990934"/>
            <a:ext cx="6463280" cy="4113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UI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Applications &amp; interview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7269480" cy="4983480"/>
          </a:xfrm>
          <a:prstGeom prst="roundRect">
            <a:avLst>
              <a:gd name="adj" fmla="val 9000"/>
            </a:avLst>
          </a:prstGeom>
          <a:solidFill>
            <a:srgbClr val="F3F1FA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2763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4DF0"/>
                </a:solidFill>
                <a:latin typeface="Calibri"/>
              </a:rPr>
              <a:t>On this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39696"/>
            <a:ext cx="3840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Hiring manager's workspace: jobs with applicant counts and rankings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Weighted scoring requirements (1-5) shown per job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“Schedule &amp; notify” assigns the date, time and interviewer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CV and interview assessments update automatically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D2548DCC-E248-4216-9EFD-54C737DC7E3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39907" y="1675144"/>
            <a:ext cx="6403775" cy="45516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UI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AI CV scores &amp; ranked shortlist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7269480" cy="4983480"/>
          </a:xfrm>
          <a:prstGeom prst="roundRect">
            <a:avLst>
              <a:gd name="adj" fmla="val 9000"/>
            </a:avLst>
          </a:prstGeom>
          <a:solidFill>
            <a:srgbClr val="F3F1FA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2763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4DF0"/>
                </a:solidFill>
                <a:latin typeface="Calibri"/>
              </a:rPr>
              <a:t>On this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39696"/>
            <a:ext cx="3840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Candidates ranked by CV score out of 100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Per-requirement evidence: met / partial / gaps, with quotes from the CV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Category breakdowns (skills, experience, qualification)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Managers review the evidence, not just the number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E3CDAAFF-2698-4ED2-8777-458B5E9DF28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89787" y="1726789"/>
            <a:ext cx="6314517" cy="43592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UI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Live interview room (interviewer view)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7269480" cy="4983480"/>
          </a:xfrm>
          <a:prstGeom prst="roundRect">
            <a:avLst>
              <a:gd name="adj" fmla="val 9000"/>
            </a:avLst>
          </a:prstGeom>
          <a:solidFill>
            <a:srgbClr val="F3F1FA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2763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4DF0"/>
                </a:solidFill>
                <a:latin typeface="Calibri"/>
              </a:rPr>
              <a:t>On this screen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36090-9AD1-4CDE-9243-E2A1BB7CE240}"/>
              </a:ext>
            </a:extLst>
          </p:cNvPr>
          <p:cNvSpPr txBox="1"/>
          <p:nvPr/>
        </p:nvSpPr>
        <p:spPr>
          <a:xfrm>
            <a:off x="8046720" y="2139696"/>
            <a:ext cx="3840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LiveKit video with real-time transcription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“Candidate info” panel shows CV highlights at a glance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Live transcript labelled by speaker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Icon controls for mute, camera and end call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453C68"/>
                </a:solidFill>
                <a:latin typeface="Calibri"/>
              </a:rPr>
              <a:t>•  Candidates see only the call — not the transcript or notes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942950C7-8E57-4207-A92E-DD356291B5A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61043" y="1976058"/>
            <a:ext cx="6731056" cy="41709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4DF0"/>
                </a:solidFill>
                <a:latin typeface="Calibri"/>
              </a:rPr>
              <a:t>CHALLENGES AND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430"/>
                </a:solidFill>
                <a:latin typeface="Calibri"/>
              </a:rPr>
              <a:t>What was hard, and how it was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E4DF0"/>
                </a:solidFill>
                <a:latin typeface="Calibri"/>
              </a:rP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9D6B"/>
                </a:solidFill>
                <a:latin typeface="Calibri"/>
              </a:rPr>
              <a:t>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074920" cy="841248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4663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1A1430"/>
                </a:solidFill>
                <a:latin typeface="Calibri"/>
              </a:rPr>
              <a:t>Unreliable live transcription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87568" y="2039112"/>
            <a:ext cx="182880" cy="146304"/>
          </a:xfrm>
          <a:prstGeom prst="rightArrow">
            <a:avLst/>
          </a:prstGeom>
          <a:solidFill>
            <a:srgbClr val="C9C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89320" y="1691640"/>
            <a:ext cx="5669280" cy="841248"/>
          </a:xfrm>
          <a:prstGeom prst="roundRect">
            <a:avLst>
              <a:gd name="adj" fmla="val 9000"/>
            </a:avLst>
          </a:prstGeom>
          <a:solidFill>
            <a:srgbClr val="F1FBF6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64792"/>
            <a:ext cx="5212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453C68"/>
                </a:solidFill>
                <a:latin typeface="Calibri"/>
              </a:rPr>
              <a:t>Transcode audio with ffmpeg and use AssemblyAI (English model) over a WebSocket stream.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42616"/>
            <a:ext cx="5074920" cy="841248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15768"/>
            <a:ext cx="4663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1A1430"/>
                </a:solidFill>
                <a:latin typeface="Calibri"/>
              </a:rPr>
              <a:t>Every CV scoring the same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87568" y="2990088"/>
            <a:ext cx="182880" cy="146304"/>
          </a:xfrm>
          <a:prstGeom prst="rightArrow">
            <a:avLst/>
          </a:prstGeom>
          <a:solidFill>
            <a:srgbClr val="C9C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89320" y="2642616"/>
            <a:ext cx="5669280" cy="841248"/>
          </a:xfrm>
          <a:prstGeom prst="roundRect">
            <a:avLst>
              <a:gd name="adj" fmla="val 9000"/>
            </a:avLst>
          </a:prstGeom>
          <a:solidFill>
            <a:srgbClr val="F1FBF6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715768"/>
            <a:ext cx="5212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453C68"/>
                </a:solidFill>
                <a:latin typeface="Calibri"/>
              </a:rPr>
              <a:t>Switched to graded 0-100 per-requirement scoring, weighted into the final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93592"/>
            <a:ext cx="5074920" cy="841248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66744"/>
            <a:ext cx="4663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1A1430"/>
                </a:solidFill>
                <a:latin typeface="Calibri"/>
              </a:rPr>
              <a:t>Large CV uploads failing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87568" y="3941064"/>
            <a:ext cx="182880" cy="146304"/>
          </a:xfrm>
          <a:prstGeom prst="rightArrow">
            <a:avLst/>
          </a:prstGeom>
          <a:solidFill>
            <a:srgbClr val="C9C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3593592"/>
            <a:ext cx="5669280" cy="841248"/>
          </a:xfrm>
          <a:prstGeom prst="roundRect">
            <a:avLst>
              <a:gd name="adj" fmla="val 9000"/>
            </a:avLst>
          </a:prstGeom>
          <a:solidFill>
            <a:srgbClr val="F1FBF6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66744"/>
            <a:ext cx="5212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453C68"/>
                </a:solidFill>
                <a:latin typeface="Calibri"/>
              </a:rPr>
              <a:t>Raised the nginx upload limit and upload in batches of 10 with a progress bar.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44568"/>
            <a:ext cx="5074920" cy="841248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4663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1A1430"/>
                </a:solidFill>
                <a:latin typeface="Calibri"/>
              </a:rPr>
              <a:t>Access without exposing my IP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87568" y="4892040"/>
            <a:ext cx="182880" cy="146304"/>
          </a:xfrm>
          <a:prstGeom prst="rightArrow">
            <a:avLst/>
          </a:prstGeom>
          <a:solidFill>
            <a:srgbClr val="C9C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89320" y="4544568"/>
            <a:ext cx="5669280" cy="841248"/>
          </a:xfrm>
          <a:prstGeom prst="roundRect">
            <a:avLst>
              <a:gd name="adj" fmla="val 9000"/>
            </a:avLst>
          </a:prstGeom>
          <a:solidFill>
            <a:srgbClr val="F1FBF6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617720"/>
            <a:ext cx="5212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453C68"/>
                </a:solidFill>
                <a:latin typeface="Calibri"/>
              </a:rPr>
              <a:t>Cloudflare Tunnel for public access; LiveKit Cloud relays the video.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95544"/>
            <a:ext cx="5074920" cy="841248"/>
          </a:xfrm>
          <a:prstGeom prst="roundRect">
            <a:avLst>
              <a:gd name="adj" fmla="val 9000"/>
            </a:avLst>
          </a:prstGeom>
          <a:solidFill>
            <a:srgbClr val="F4F1FF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68696"/>
            <a:ext cx="4663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1A1430"/>
                </a:solidFill>
                <a:latin typeface="Calibri"/>
              </a:rPr>
              <a:t>Sessions expiring mid-task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87568" y="5843016"/>
            <a:ext cx="182880" cy="146304"/>
          </a:xfrm>
          <a:prstGeom prst="rightArrow">
            <a:avLst/>
          </a:prstGeom>
          <a:solidFill>
            <a:srgbClr val="C9C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89320" y="5495544"/>
            <a:ext cx="5669280" cy="841248"/>
          </a:xfrm>
          <a:prstGeom prst="roundRect">
            <a:avLst>
              <a:gd name="adj" fmla="val 9000"/>
            </a:avLst>
          </a:prstGeom>
          <a:solidFill>
            <a:srgbClr val="F1FBF6"/>
          </a:solidFill>
          <a:ln w="12700">
            <a:solidFill>
              <a:srgbClr val="E4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568696"/>
            <a:ext cx="5212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453C68"/>
                </a:solidFill>
                <a:latin typeface="Calibri"/>
              </a:rPr>
              <a:t>Longer-lived JWT session plus automatic re-login on expiry.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42032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9D2FF"/>
                </a:solidFill>
                <a:latin typeface="Calibri"/>
              </a:rPr>
              <a:t>Thank you — happy to demo the system and answer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474720"/>
            <a:ext cx="5257800" cy="2514600"/>
          </a:xfrm>
          <a:prstGeom prst="roundRect">
            <a:avLst>
              <a:gd name="adj" fmla="val 8000"/>
            </a:avLst>
          </a:prstGeom>
          <a:solidFill>
            <a:srgbClr val="2E2468"/>
          </a:solidFill>
          <a:ln w="12700">
            <a:solidFill>
              <a:srgbClr val="4A3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3703320"/>
            <a:ext cx="201168" cy="20116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6301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Current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>
                <a:solidFill>
                  <a:srgbClr val="CFC7F0"/>
                </a:solidFill>
                <a:latin typeface="Calibri"/>
              </a:rPr>
              <a:t>•  All core modules implemented and integrated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>
                <a:solidFill>
                  <a:srgbClr val="CFC7F0"/>
                </a:solidFill>
                <a:latin typeface="Calibri"/>
              </a:rPr>
              <a:t>•  Running as a Dockerized stack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>
                <a:solidFill>
                  <a:srgbClr val="CFC7F0"/>
                </a:solidFill>
                <a:latin typeface="Calibri"/>
              </a:rPr>
              <a:t>•  Final end-to-end demo in 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74720"/>
            <a:ext cx="5257800" cy="2514600"/>
          </a:xfrm>
          <a:prstGeom prst="roundRect">
            <a:avLst>
              <a:gd name="adj" fmla="val 8000"/>
            </a:avLst>
          </a:prstGeom>
          <a:solidFill>
            <a:srgbClr val="2E2468"/>
          </a:solidFill>
          <a:ln w="12700">
            <a:solidFill>
              <a:srgbClr val="4A3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3703320"/>
            <a:ext cx="201168" cy="201168"/>
          </a:xfrm>
          <a:prstGeom prst="ellipse">
            <a:avLst/>
          </a:prstGeom>
          <a:solidFill>
            <a:srgbClr val="6E4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36301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411480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>
                <a:solidFill>
                  <a:srgbClr val="CFC7F0"/>
                </a:solidFill>
                <a:latin typeface="Calibri"/>
              </a:rPr>
              <a:t>•  Analytics / reporting dashboard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>
                <a:solidFill>
                  <a:srgbClr val="CFC7F0"/>
                </a:solidFill>
                <a:latin typeface="Calibri"/>
              </a:rPr>
              <a:t>•  Manager-editable requirement weights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>
                <a:solidFill>
                  <a:srgbClr val="CFC7F0"/>
                </a:solidFill>
                <a:latin typeface="Calibri"/>
              </a:rPr>
              <a:t>•  Deeper interview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8251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84BC"/>
                </a:solidFill>
                <a:latin typeface="Calibri"/>
              </a:rPr>
              <a:t>RecruitO · Mahbubur Rahman Rafi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